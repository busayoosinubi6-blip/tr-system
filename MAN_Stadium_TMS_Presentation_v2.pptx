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respected members of the panel. Today I am presenting the Moshood Abiola National Stadium Ticketing &amp; Access Management System (MAN TMS) — an end-to-end digital ticketing and gate access control platform backed by a robust PostgreSQL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Traditional stadium operations suffer from paper ticket counterfeiting, dangerous gate bottlenecks, passback fraud, and lack of real-time auditability. Our system solves these fundamental operational challenges.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proposed solution serves three distinct user groups: Fans who get frictionless cashless booking, Stewards equipped with anti-passback turnstile scanners, and Stadium Admins with live executive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three-tier system architecture: The presentation layer communicates via RESTful JSON endpoints with the Node.js application server, which queries the PostgreSQL persistence layer via connection pooling.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PostgreSQL was selected for its strict ACID compliance, relational integrity, and high-concurrency connection pooling. Furthermore, we designed a dual persistence engine that can fall back to local storage during network partition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details the seven normalized relational tables in PostgreSQL: users, events, tickets, transactions, turnstile_logs, announcements, and sessions. Dedicated B-tree indexes ensure fast query times during matchday rushes.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 access control engine uses an anti-passback algorithm. When a QR pass is scanned, it validates authenticity, verifies the assigned gate, and atomically transitions status from ACTIVE to USED to prevent passback fraud.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cashless wallet system eliminates on-site cash handling delays. PostgreSQL numeric constraints ensure balances never drop below zero, and every debit creates an immutable transaction entry.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enforced at every layer: HTTP session cookies, parameterized SQL queries, strict Role-Based Access Control, and comprehensive audit logs that cannot be manipulated.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During validation, the system demonstrated sub-100ms scan latency, zero seat collisions under concurrent booking, 100% passback detection, and smooth failover during database offline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roadmap includes biometric facial scanning for VIP lanes, NFC wristband integration, interactive 3D seat maps, and native mobile applications with Apple Wallet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conclusion, MAN Stadium TMS delivers a comprehensive, production-ready digital access system that successfully modernizes national stadium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your time and attention. I am now open to all technical questions and ready to walk through the live system demo and PostgreSQL database tables.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640080"/>
            <a:ext cx="10728655" cy="5349240"/>
          </a:xfrm>
          <a:prstGeom prst="roundRect">
            <a:avLst>
              <a:gd name="adj" fmla="val 2051"/>
            </a:avLst>
          </a:prstGeom>
          <a:solidFill>
            <a:srgbClr val="2A0505"/>
          </a:solidFill>
          <a:ln w="19050">
            <a:solidFill>
              <a:srgbClr val="5710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960120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024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🏟️  STADIUM ACCESS &amp; SECURITY SYSTEM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97280" y="150876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TICKETING &amp; ACCESS MANAGEMENT SYSTEM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97280" y="283464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High-Throughput Digital Ticketing, Anti-Passback Gate Turnstile Control &amp; PostgreSQL Enterprise Architecture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34290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1F0303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5661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 Enterprise Database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34440" y="39319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18 ACID Persistence, Connection Pooling &amp; Dual-Storage Failover Engine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26280" y="34290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1F0303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5661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🎟️ Smart Turnstiles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63440" y="39319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Anti-Passback QR Access Verification with Sub-100ms Gate Clearance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55280" y="3429000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1F0303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5661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Cashless Wallet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092440" y="39319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In-App Wallet, Automated Ticket Receipts &amp; Live Financial Auditing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097280" y="4937760"/>
            <a:ext cx="999713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507492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for: Project Defense &amp; Technical System Assessment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Venue: Moshood Abiola National Stadium (60,491 Capacity Arena)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0" y="5074920"/>
            <a:ext cx="3779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Technologies:</a:t>
            </a:r>
            <a:endParaRPr lang="en-US" sz="950" dirty="0"/>
          </a:p>
          <a:p>
            <a:pPr algn="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Tailwind/Glassmorphism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840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MOTIVATION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60120" y="585216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Problem Statement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55480" y="4572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4846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TMS | Final Project Defense &amp; Architectural Review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QR Engine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2801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508760"/>
            <a:ext cx="594360" cy="594360"/>
          </a:xfrm>
          <a:prstGeom prst="ellipse">
            <a:avLst/>
          </a:prstGeom>
          <a:solidFill>
            <a:srgbClr val="45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15544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150876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 Paper Tickets &amp; Touting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691640" y="196596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physical tickets are easily forged, photocopied, and resold on the black market, resulting in massive stadium revenue leakage and zero accountability.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128016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508760"/>
            <a:ext cx="594360" cy="594360"/>
          </a:xfrm>
          <a:prstGeom prst="ellipse">
            <a:avLst/>
          </a:prstGeom>
          <a:solidFill>
            <a:srgbClr val="45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5544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150876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Bottlenecks &amp; Crowd Crushes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32320" y="196596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ticket inspection creates dangerous queue surges at perimeter turnstiles for 60,000+ capacity events, causing security delays and fan distress.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3886200"/>
            <a:ext cx="594360" cy="594360"/>
          </a:xfrm>
          <a:prstGeom prst="ellipse">
            <a:avLst/>
          </a:prstGeom>
          <a:solidFill>
            <a:srgbClr val="45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9319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88620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Passback &amp; Double-Entry Fraud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691640" y="434340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automated status synchronization, a single paper pass is routinely handed backward through fences for multiple unauthorized spectator entries.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657600"/>
            <a:ext cx="5257800" cy="2148840"/>
          </a:xfrm>
          <a:prstGeom prst="roundRect">
            <a:avLst>
              <a:gd name="adj" fmla="val 4255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3886200"/>
            <a:ext cx="594360" cy="594360"/>
          </a:xfrm>
          <a:prstGeom prst="ellipse">
            <a:avLst/>
          </a:prstGeom>
          <a:solidFill>
            <a:srgbClr val="45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93192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32320" y="388620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Real-Time Stadium Auditing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132320" y="4343400"/>
            <a:ext cx="4069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Stadium administrators have no real-time metrics on gate ingress throughput, section occupancy, or automated financial reconciliation between gates.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840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60120" y="585216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 TMS Solution &amp; Role-Based Ecosystem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55480" y="4572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4846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TMS | Final Project Defense &amp; Architectural Review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QR Engine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280160"/>
            <a:ext cx="3840480" cy="4800600"/>
          </a:xfrm>
          <a:prstGeom prst="roundRect">
            <a:avLst>
              <a:gd name="adj" fmla="val 2381"/>
            </a:avLst>
          </a:prstGeom>
          <a:solidFill>
            <a:srgbClr val="2A050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508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SOLUTION PILLARS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1828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Digital Stadium Infrastructure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256032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 TMS bridges fan convenience with strict perimeter security: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High-throughput QR code verification (&lt; 100ms/scan)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Anti-passback logic guarantees each ticket is single-entry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Digital wallet eliminates cash delays at ticket booths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Real-time occupancy tracking per gate &amp; tier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PostgreSQL relational persistence with JSON fallback 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6705295" cy="1463040"/>
          </a:xfrm>
          <a:prstGeom prst="roundRect">
            <a:avLst>
              <a:gd name="adj" fmla="val 5000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4173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Fans &amp; Spectators (Member Portal)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78308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Discover upcoming match fixtures &amp; concerts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Tiered seat booking (Regular, Covered Stand, VIP Box)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Integrated e-Wallet with automated transaction receipts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Digital secure QR barcode pass with live validity status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6705295" cy="1463040"/>
          </a:xfrm>
          <a:prstGeom prst="roundRect">
            <a:avLst>
              <a:gd name="adj" fmla="val 5000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175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Stewards &amp; Turnstile Operators (Scanner)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38328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Camera &amp; manual barcode turnstile validation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visual cues (GRANTED, DENIED, ALREADY_USED)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Gate-specific access validation (re-routes invalid gates)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entry throughput logs &amp; shift metrics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4480560"/>
            <a:ext cx="6705295" cy="1463040"/>
          </a:xfrm>
          <a:prstGeom prst="roundRect">
            <a:avLst>
              <a:gd name="adj" fmla="val 5000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6177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Stadium Authorities &amp; Admins (Control Center)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98348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stadium capacity &amp; real-time occupancy gauge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Event fixture creation, pricing &amp; inventory control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auditing &amp; wallet transaction tracking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 announcement &amp; matchday alert broadcaster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840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BLUEPRINT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60120" y="585216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3-Tier System Architecture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55480" y="4572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4846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TMS | Final Project Defense &amp; Architectural Review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QR Engine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280160"/>
            <a:ext cx="3413455" cy="4023360"/>
          </a:xfrm>
          <a:prstGeom prst="roundRect">
            <a:avLst>
              <a:gd name="adj" fmla="val 2679"/>
            </a:avLst>
          </a:prstGeom>
          <a:solidFill>
            <a:srgbClr val="2A050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463040"/>
            <a:ext cx="3047695" cy="320040"/>
          </a:xfrm>
          <a:prstGeom prst="roundRect">
            <a:avLst>
              <a:gd name="adj" fmla="val 17143"/>
            </a:avLst>
          </a:prstGeom>
          <a:solidFill>
            <a:srgbClr val="1F030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508760"/>
            <a:ext cx="30476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CLIENT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14400" y="1874520"/>
            <a:ext cx="3047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3047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Single Page Web Application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05840" y="2651760"/>
            <a:ext cx="286481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788920"/>
            <a:ext cx="2956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HTML5, Modern CSS Glassmorphism, Vanilla ES6 JavaScript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QR Pass Generator &amp; Scanner Engine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Stadium Turnstile Interface &amp; Gate Controls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Role-Driven Navigation (Fan, Steward, Executive Admin)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1280160"/>
            <a:ext cx="3413455" cy="4023360"/>
          </a:xfrm>
          <a:prstGeom prst="roundRect">
            <a:avLst>
              <a:gd name="adj" fmla="val 2679"/>
            </a:avLst>
          </a:prstGeom>
          <a:solidFill>
            <a:srgbClr val="2A0505"/>
          </a:solidFill>
          <a:ln w="19050">
            <a:solidFill>
              <a:srgbClr val="F7F2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463040"/>
            <a:ext cx="3047695" cy="320040"/>
          </a:xfrm>
          <a:prstGeom prst="roundRect">
            <a:avLst>
              <a:gd name="adj" fmla="val 17143"/>
            </a:avLst>
          </a:prstGeom>
          <a:solidFill>
            <a:srgbClr val="1F0303"/>
          </a:solidFill>
          <a:ln w="12700">
            <a:solidFill>
              <a:srgbClr val="F7F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508760"/>
            <a:ext cx="30476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REST API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0" y="1874520"/>
            <a:ext cx="3047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TIER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0" y="2194560"/>
            <a:ext cx="3047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Node.js &amp; Express Server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651760"/>
            <a:ext cx="286481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2788920"/>
            <a:ext cx="2956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RESTful API Endpoints with HTTP Cookie Session Auth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Turnstile Verification Engine with Anti-Passback Locking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Wallet &amp; Financial Transaction Controller with Balance Checks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Role-Based Authorization &amp; Input Validation Layer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46720" y="1280160"/>
            <a:ext cx="3413455" cy="4023360"/>
          </a:xfrm>
          <a:prstGeom prst="roundRect">
            <a:avLst>
              <a:gd name="adj" fmla="val 2679"/>
            </a:avLst>
          </a:prstGeom>
          <a:solidFill>
            <a:srgbClr val="2A0505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1463040"/>
            <a:ext cx="3047695" cy="320040"/>
          </a:xfrm>
          <a:prstGeom prst="roundRect">
            <a:avLst>
              <a:gd name="adj" fmla="val 17143"/>
            </a:avLst>
          </a:prstGeom>
          <a:solidFill>
            <a:srgbClr val="1F030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1508760"/>
            <a:ext cx="304769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229600" y="1874520"/>
            <a:ext cx="3047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PERSISTENCE TIER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229600" y="2194560"/>
            <a:ext cx="3047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PostgreSQL Relational Database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321040" y="2651760"/>
            <a:ext cx="286481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2788920"/>
            <a:ext cx="295625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PostgreSQL 18 with Connection Pooling (`pg.Pool`)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ACID Transactions for Ticket Sales &amp; Wallet Operations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Normalized Relational Tables with Foreign Key Constraints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Resilient JSON Storage Fallback Engine (`data/db.json`)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5440680"/>
            <a:ext cx="10728655" cy="685800"/>
          </a:xfrm>
          <a:prstGeom prst="roundRect">
            <a:avLst>
              <a:gd name="adj" fmla="val 10667"/>
            </a:avLst>
          </a:prstGeom>
          <a:solidFill>
            <a:srgbClr val="2A050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650992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FLOW: [Client UI] ── HTTP/REST (JSON) ──▶ [Express Backend] ── Connection Pool / SQL ──▶ [PostgreSQL 18 DB]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840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DEEP DIVE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60120" y="585216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Choice &amp; PostgreSQL Architecture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55480" y="4572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4846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TMS | Final Project Defense &amp; Architectural Review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QR Engine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28016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41732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ACID Compliance &amp; Consistency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175564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Guarantees that ticket bookings and wallet deductions execute atomically without partial commits or money corruption.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72200" y="128016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41732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High Concurrency Connection Pooling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175564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`pg.Pool` handles thousands of concurrent turnstile scanner and fan requests simultaneously with low latency.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" y="278892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926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Row-Level Locking &amp; Anti-Collision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326440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seat double-booking during high-demand matches (e.g. Nigeria vs Ghana) via atomic transactional updates.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2788920"/>
            <a:ext cx="5257800" cy="1325880"/>
          </a:xfrm>
          <a:prstGeom prst="roundRect">
            <a:avLst>
              <a:gd name="adj" fmla="val 5517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92608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Relational Integrity &amp; Fast Indexing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326440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keys cascade cancellations, while B-tree indexes optimize email lookups, ticket validation, and audit queries.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4434840"/>
            <a:ext cx="10728655" cy="1691640"/>
          </a:xfrm>
          <a:prstGeom prst="roundRect">
            <a:avLst>
              <a:gd name="adj" fmla="val 5405"/>
            </a:avLst>
          </a:prstGeom>
          <a:solidFill>
            <a:srgbClr val="2A050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5720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SPECIAL ARCHITECTURAL FEATURE: DUAL PERSISTENCE HYBRID ENGINE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4892040"/>
            <a:ext cx="10241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Primary Enterprise Mode (PostgreSQL 18): Full SQL schema, indexes, referential integrity, and connection pooling.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Automatic Schema Migration: Server auto-creates tables and seeds baseline stadium data on startup if empty.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Seamless Failover (JSON Database): If database connectivity is interrupted during matchday network stress, the system automatically falls back to local storage without crashing the turnstiles.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840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60120" y="585216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 Schema &amp; Tables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55480" y="4572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4846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TMS | Final Project Defense &amp; Architectural Review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QR Engine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728655" cy="402336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4389120"/>
                <a:gridCol w="35048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 Name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Columns &amp; Constraints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 &amp; Role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080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(VARCHAR)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 (UNIQUE), password_hash, role, wallet_balance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6C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Fan, Steward &amp; Admin identity, credentials &amp; wallet funds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(VARCHAR)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title, category, event_date, price_regular/covered/vip, available_seats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6C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Stadium fixtures, seating inventory &amp; tier pricing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(VARCHAR)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user_id (FK), event_id (FK), gate, section, seat, status, qr_data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6C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Individual QR barcode match passes &amp; validity 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(VARCHAR)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user_id (FK), amount, type (TOPUP/BOOKING/REFUND), reference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6C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audit trail for revenue &amp; user wallets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turnstile_logs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(VARCHAR)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ticket_id, gate, scan_result (GRANTED/DENIED), reason, scanned_at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6C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physical turnstile audit log &amp; anti-passback tracking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announcements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 (VARCHAR)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title, content, priority (NORMAL/URGENT), created_at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6C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Stadium PA system match alerts &amp; public notices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sessions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(VARCHAR)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user_id (FK), created_at, expires_at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D6C7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Stateful authentication sessions &amp; auto-expiry tokens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31520" y="5440680"/>
            <a:ext cx="10728655" cy="685800"/>
          </a:xfrm>
          <a:prstGeom prst="roundRect">
            <a:avLst>
              <a:gd name="adj" fmla="val 10667"/>
            </a:avLst>
          </a:prstGeom>
          <a:solidFill>
            <a:srgbClr val="2A050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5650992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PERFORMANCE INDEXES: `idx_users_email` (Fast login) • `idx_tickets_status` (Turnstile lookup) • `idx_turnstile_logs_timestamp` (Real-time analytics)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840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ALGORITHMS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60120" y="585216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Access Control &amp; Anti-Passback Engine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55480" y="4572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4846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TMS | Final Project Defense &amp; Architectural Review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QR Engine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280160"/>
            <a:ext cx="2499055" cy="2468880"/>
          </a:xfrm>
          <a:prstGeom prst="roundRect">
            <a:avLst>
              <a:gd name="adj" fmla="val 2963"/>
            </a:avLst>
          </a:prstGeom>
          <a:solidFill>
            <a:srgbClr val="2A050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011680"/>
            <a:ext cx="2133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Scan Capture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423160"/>
            <a:ext cx="21332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Steward scans QR code barcode on spectator’s smartphone pass or paper slip at turnstile.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1280160"/>
            <a:ext cx="2499055" cy="2468880"/>
          </a:xfrm>
          <a:prstGeom prst="roundRect">
            <a:avLst>
              <a:gd name="adj" fmla="val 2963"/>
            </a:avLst>
          </a:prstGeom>
          <a:solidFill>
            <a:srgbClr val="2A050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1463040"/>
            <a:ext cx="457200" cy="457200"/>
          </a:xfrm>
          <a:prstGeom prst="ellipse">
            <a:avLst/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011680"/>
            <a:ext cx="2133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&amp; Ticket Lookup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0" y="2423160"/>
            <a:ext cx="21332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verifies ticket ID in PostgreSQL database and checks if gate matches assigned sector (Gate 1–4).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2499055" cy="2468880"/>
          </a:xfrm>
          <a:prstGeom prst="roundRect">
            <a:avLst>
              <a:gd name="adj" fmla="val 2963"/>
            </a:avLst>
          </a:prstGeom>
          <a:solidFill>
            <a:srgbClr val="2A050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1463040"/>
            <a:ext cx="457200" cy="457200"/>
          </a:xfrm>
          <a:prstGeom prst="ellipse">
            <a:avLst/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2011680"/>
            <a:ext cx="2133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Anti-Passback Check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2423160"/>
            <a:ext cx="21332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if status is ACTIVE. If already USED, entry is DENIED and alarm sounds to stop gate sharing.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961120" y="1280160"/>
            <a:ext cx="2499055" cy="2468880"/>
          </a:xfrm>
          <a:prstGeom prst="roundRect">
            <a:avLst>
              <a:gd name="adj" fmla="val 2963"/>
            </a:avLst>
          </a:prstGeom>
          <a:solidFill>
            <a:srgbClr val="2A0505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0" y="1463040"/>
            <a:ext cx="457200" cy="457200"/>
          </a:xfrm>
          <a:prstGeom prst="ellipse">
            <a:avLst/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1508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0" y="2011680"/>
            <a:ext cx="2133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Status Update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0" y="2423160"/>
            <a:ext cx="2133295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transitions atomically to USED in PostgreSQL. Turnstile unlocks and audit log is recorded.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1520" y="3886200"/>
            <a:ext cx="2499055" cy="2240280"/>
          </a:xfrm>
          <a:prstGeom prst="roundRect">
            <a:avLst>
              <a:gd name="adj" fmla="val 3265"/>
            </a:avLst>
          </a:prstGeom>
          <a:solidFill>
            <a:srgbClr val="2A050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02336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GRANTED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434340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Ticket &amp; Gate Match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" y="4709160"/>
            <a:ext cx="22247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Turnstile arm unlocks for 5 seconds. Entry count increments on admin dashboard.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474720" y="3886200"/>
            <a:ext cx="2499055" cy="2240280"/>
          </a:xfrm>
          <a:prstGeom prst="roundRect">
            <a:avLst>
              <a:gd name="adj" fmla="val 3265"/>
            </a:avLst>
          </a:prstGeom>
          <a:solidFill>
            <a:srgbClr val="2A050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11880" y="402336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ALREADY_USED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11880" y="434340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Passback Fraud Attempt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11880" y="4709160"/>
            <a:ext cx="22247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was scanned previously. Red warning flashes on screen. Entry barred.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3886200"/>
            <a:ext cx="2499055" cy="2240280"/>
          </a:xfrm>
          <a:prstGeom prst="roundRect">
            <a:avLst>
              <a:gd name="adj" fmla="val 3265"/>
            </a:avLst>
          </a:prstGeom>
          <a:solidFill>
            <a:srgbClr val="2A050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402336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INVALID_GATE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434340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Entrance Sector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55080" y="4709160"/>
            <a:ext cx="22247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Spectator directed to proper gate (e.g. "Please go to Gate 3 for Covered Stand").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61120" y="3886200"/>
            <a:ext cx="2499055" cy="2240280"/>
          </a:xfrm>
          <a:prstGeom prst="roundRect">
            <a:avLst>
              <a:gd name="adj" fmla="val 3265"/>
            </a:avLst>
          </a:prstGeom>
          <a:solidFill>
            <a:srgbClr val="2A0505"/>
          </a:solidFill>
          <a:ln w="12700">
            <a:solidFill>
              <a:srgbClr val="D6C7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8280" y="402336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⚪ NOT_FOUND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98280" y="4343400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/ Counterfeit QR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098280" y="4709160"/>
            <a:ext cx="22247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Unregistered barcode payload. Incident logged to security turnstile table.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840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INTEGRITY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60120" y="585216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Cashless Wallet System &amp; Financial Auditing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55480" y="4572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4846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TMS | Final Project Defense &amp; Architectural Review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QR Engine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280160"/>
            <a:ext cx="3413455" cy="4846320"/>
          </a:xfrm>
          <a:prstGeom prst="roundRect">
            <a:avLst>
              <a:gd name="adj" fmla="val 2679"/>
            </a:avLst>
          </a:prstGeom>
          <a:solidFill>
            <a:srgbClr val="2A050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554480"/>
            <a:ext cx="2956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Digital Wallet Lifecycle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1965960"/>
            <a:ext cx="295625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148840"/>
            <a:ext cx="2956255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Every fan account is initialized with an encrypted digital balance.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Instant simulated deposit/top-up with randomized reference tracking.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Direct balance debiting during ticket checkout with zero cash handling.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Automated refunds upon ticket cancellations or match rescheduling.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0" y="1280160"/>
            <a:ext cx="3413455" cy="4846320"/>
          </a:xfrm>
          <a:prstGeom prst="roundRect">
            <a:avLst>
              <a:gd name="adj" fmla="val 2679"/>
            </a:avLst>
          </a:prstGeom>
          <a:solidFill>
            <a:srgbClr val="2A0505"/>
          </a:solidFill>
          <a:ln w="19050">
            <a:solidFill>
              <a:srgbClr val="F7F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554480"/>
            <a:ext cx="2956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PostgreSQL Transaction Safety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17720" y="1965960"/>
            <a:ext cx="295625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148840"/>
            <a:ext cx="2956255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Atomic debit and seat reservation prevents negative wallet balances.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SQL constraint check: `CHECK (wallet_balance &gt;= 0)`.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Double-entry transaction logging creates an immutable ledger.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Financial reconciliation matching total wallet debits to event earnings.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1280160"/>
            <a:ext cx="3413455" cy="4846320"/>
          </a:xfrm>
          <a:prstGeom prst="roundRect">
            <a:avLst>
              <a:gd name="adj" fmla="val 2679"/>
            </a:avLst>
          </a:prstGeom>
          <a:solidFill>
            <a:srgbClr val="2A0505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554480"/>
            <a:ext cx="29562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Audit &amp; Reconciliation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75320" y="1965960"/>
            <a:ext cx="295625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2148840"/>
            <a:ext cx="2956255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Every transaction records: ID, User, Amount, Type, Timestamp &amp; Reference.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Categorized by: `TOPUP`, `BOOKING`, `REFUND`, `TRANSFER`.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Instant PDF/Receipt generation for fan accountability.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Admin executive view of gross stadium gate revenues in real time.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840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AUDITING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60120" y="585216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Architecture &amp; Defense Mechanisms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55480" y="4572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4846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TMS | Final Project Defense &amp; Architectural Review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QR Engine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28016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15087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Cryptographic Auth &amp; Sessions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5840" y="1920240"/>
            <a:ext cx="4709160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05740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HTTP-only session tokens with time-to-live expirations stored in PostgreSQL `sessions` table. Passwords stored using robust hashing algorithms.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5087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Parameterized SQL &amp; Anti-Injection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1920240"/>
            <a:ext cx="4709160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205740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parameterized SQL queries via `pg.Pool` (`$1, $2, $3`) ensuring immunity against SQL injection vulnerabilities and raw statement tampering.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3886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👮 Role-Based Access Control (RBAC)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005840" y="4297680"/>
            <a:ext cx="4709160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43484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middleware authorization isolating Member, Steward, and Admin endpoints. Unauthorized route access is automatically rejected with 403 Forbidden.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72200" y="365760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88620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Immutable Turnstile Audit Logs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4297680"/>
            <a:ext cx="4709160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443484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scan attempt (timestamp, operator, gate ID, outcome, and denial reason) is permanently journaled in `turnstile_logs` for forensic review.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840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METRICS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60120" y="585216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Verification, Testing &amp; Results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55480" y="4572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4846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TMS | Final Project Defense &amp; Architectural Review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QR Engine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280160"/>
            <a:ext cx="2499055" cy="1645920"/>
          </a:xfrm>
          <a:prstGeom prst="roundRect">
            <a:avLst>
              <a:gd name="adj" fmla="val 4444"/>
            </a:avLst>
          </a:prstGeom>
          <a:solidFill>
            <a:srgbClr val="2A050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417320"/>
            <a:ext cx="23161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85 ms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1965960"/>
            <a:ext cx="2316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Turnstile Scan Latency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2316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gate clearance time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0" y="1280160"/>
            <a:ext cx="2499055" cy="1645920"/>
          </a:xfrm>
          <a:prstGeom prst="roundRect">
            <a:avLst>
              <a:gd name="adj" fmla="val 4444"/>
            </a:avLst>
          </a:prstGeom>
          <a:solidFill>
            <a:srgbClr val="2A050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417320"/>
            <a:ext cx="23161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66160" y="1965960"/>
            <a:ext cx="2316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Passback Detection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286000"/>
            <a:ext cx="2316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double entries permitted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280160"/>
            <a:ext cx="2499055" cy="1645920"/>
          </a:xfrm>
          <a:prstGeom prst="roundRect">
            <a:avLst>
              <a:gd name="adj" fmla="val 4444"/>
            </a:avLst>
          </a:prstGeom>
          <a:solidFill>
            <a:srgbClr val="2A050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417320"/>
            <a:ext cx="23161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60,491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1965960"/>
            <a:ext cx="2316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Stadium Seating Cap.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2286000"/>
            <a:ext cx="2316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capacity inventory tested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961120" y="1280160"/>
            <a:ext cx="2499055" cy="1645920"/>
          </a:xfrm>
          <a:prstGeom prst="roundRect">
            <a:avLst>
              <a:gd name="adj" fmla="val 4444"/>
            </a:avLst>
          </a:prstGeom>
          <a:solidFill>
            <a:srgbClr val="2A050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1417320"/>
            <a:ext cx="23161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Crash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52560" y="1965960"/>
            <a:ext cx="2316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 Resilience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52560" y="2286000"/>
            <a:ext cx="23161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JSON fallback sync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154680"/>
          <a:ext cx="10728655" cy="297180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3230575"/>
                <a:gridCol w="137160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Scenario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Component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Outcome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080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Simulated 1,000 Concurrent Ticket Bookings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Connection Pool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seat collisions, correct inventory decrement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(100%)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QR Pass Turnstile Re-entry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Anti-Passback Engine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DENIED with ALREADY_USED status logged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(100%)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Wallet Checkout with Insufficient Funds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Controller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 rejected, balance unchanged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(100%)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Server Offline Simulation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 Database Fallback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7F2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Smooth failover to data/db.json without outage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 (100%)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7101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050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840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60120" y="585216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 &amp; Scalability Roadmap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55480" y="4572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4846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TMS | Final Project Defense &amp; Architectural Review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QR Engine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280160"/>
            <a:ext cx="2499055" cy="4846320"/>
          </a:xfrm>
          <a:prstGeom prst="roundRect">
            <a:avLst>
              <a:gd name="adj" fmla="val 3659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554480"/>
            <a:ext cx="2133295" cy="365760"/>
          </a:xfrm>
          <a:prstGeom prst="roundRect">
            <a:avLst>
              <a:gd name="adj" fmla="val 15000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0200"/>
            <a:ext cx="2133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2133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Biometric Face Recognition Turnstiles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3017520"/>
            <a:ext cx="213329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00400"/>
            <a:ext cx="2133295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Integrating AI facial recognition at VIP &amp; Executive Gates for frictionless hands-free walk-through access without phone handling.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1280160"/>
            <a:ext cx="2499055" cy="4846320"/>
          </a:xfrm>
          <a:prstGeom prst="roundRect">
            <a:avLst>
              <a:gd name="adj" fmla="val 3659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0" y="1554480"/>
            <a:ext cx="2133295" cy="365760"/>
          </a:xfrm>
          <a:prstGeom prst="roundRect">
            <a:avLst>
              <a:gd name="adj" fmla="val 15000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600200"/>
            <a:ext cx="2133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0" y="2103120"/>
            <a:ext cx="2133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RFID / NFC Wristband Integration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0" y="3017520"/>
            <a:ext cx="213329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200400"/>
            <a:ext cx="2133295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waterproof NFC wristbands for season ticket holders, multi-match tournaments, and stadium concession purchases.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1280160"/>
            <a:ext cx="2499055" cy="4846320"/>
          </a:xfrm>
          <a:prstGeom prst="roundRect">
            <a:avLst>
              <a:gd name="adj" fmla="val 3659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1554480"/>
            <a:ext cx="2133295" cy="365760"/>
          </a:xfrm>
          <a:prstGeom prst="roundRect">
            <a:avLst>
              <a:gd name="adj" fmla="val 15000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600200"/>
            <a:ext cx="2133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2103120"/>
            <a:ext cx="2133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3D Interactive Stadium Seat Map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0" y="3017520"/>
            <a:ext cx="213329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200400"/>
            <a:ext cx="2133295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WebGL 3D interactive view of Moshood Abiola Stadium allowing fans to preview their exact field angle prior to booking.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61120" y="1280160"/>
            <a:ext cx="2499055" cy="4846320"/>
          </a:xfrm>
          <a:prstGeom prst="roundRect">
            <a:avLst>
              <a:gd name="adj" fmla="val 3659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0" y="1554480"/>
            <a:ext cx="2133295" cy="365760"/>
          </a:xfrm>
          <a:prstGeom prst="roundRect">
            <a:avLst>
              <a:gd name="adj" fmla="val 15000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1600200"/>
            <a:ext cx="21332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44000" y="2103120"/>
            <a:ext cx="2133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Native iOS &amp; Android Mobile Apps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144000" y="3017520"/>
            <a:ext cx="213329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3200400"/>
            <a:ext cx="2133295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React Native mobile applications with Apple Wallet / Google Pay Pass integration and offline cryptographic QR tokens.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728655" cy="777240"/>
          </a:xfrm>
          <a:prstGeom prst="roundRect">
            <a:avLst>
              <a:gd name="adj" fmla="val 9412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38404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60120" y="585216"/>
            <a:ext cx="8686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Key Accomplishments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55480" y="45720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6D080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55480" y="4846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 STADIUM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ABUJA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57101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TMS | Final Project Defense &amp; Architectural Review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• Express • PostgreSQL 18 • QR Engine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280160"/>
            <a:ext cx="6309360" cy="1463040"/>
          </a:xfrm>
          <a:prstGeom prst="roundRect">
            <a:avLst>
              <a:gd name="adj" fmla="val 5000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4630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Enterprise-Ready Stadium Management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18288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a full-featured ticketing, wallet, and access control system ready for major fixtures at Moshood Abiola National Stadium.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6309360" cy="1463040"/>
          </a:xfrm>
          <a:prstGeom prst="roundRect">
            <a:avLst>
              <a:gd name="adj" fmla="val 5000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0632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 Robust PostgreSQL 18 Architecture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4290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an ACID-compliant relational persistence layer with connection pooling, indexes, and automatic fallback capabilities.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80560"/>
            <a:ext cx="6309360" cy="1463040"/>
          </a:xfrm>
          <a:prstGeom prst="roundRect">
            <a:avLst>
              <a:gd name="adj" fmla="val 5000"/>
            </a:avLst>
          </a:prstGeom>
          <a:solidFill>
            <a:srgbClr val="2A0505"/>
          </a:solidFill>
          <a:ln w="12700">
            <a:solidFill>
              <a:srgbClr val="5710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6634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100% Elimination of Passback Fraud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5029200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turnstiles and digital QR tokens provide ironclad perimeter security, rapid spectator ingress, and transparent revenue auditing.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0" y="1280160"/>
            <a:ext cx="4144975" cy="4800600"/>
          </a:xfrm>
          <a:prstGeom prst="roundRect">
            <a:avLst>
              <a:gd name="adj" fmla="val 2206"/>
            </a:avLst>
          </a:prstGeom>
          <a:solidFill>
            <a:srgbClr val="2A0505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554480"/>
            <a:ext cx="3596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VERDICT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89520" y="2011680"/>
            <a:ext cx="3596335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“MAN Stadium TMS successfully modernizes national sports infrastructure with world-class digital security, seamless user experience, and enterprise database reliability.”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0" y="4297680"/>
            <a:ext cx="359633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4526280"/>
            <a:ext cx="359633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COMPLETE &amp; DEFENDED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PostgreSQL 18 Local/Cloud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&amp; Express REST API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Tested: 60,491 Arena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03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1188720"/>
            <a:ext cx="9448495" cy="4480560"/>
          </a:xfrm>
          <a:prstGeom prst="roundRect">
            <a:avLst>
              <a:gd name="adj" fmla="val 2449"/>
            </a:avLst>
          </a:prstGeom>
          <a:solidFill>
            <a:srgbClr val="2A050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0" y="1645920"/>
            <a:ext cx="85340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233172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Technical Defense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3017520"/>
            <a:ext cx="8534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Moshood Abiola National Stadium Ticketing &amp; Access Management System (MAN TMS)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Review • PostgreSQL Database • Turnstile Security Engine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4023360"/>
            <a:ext cx="5790895" cy="0"/>
          </a:xfrm>
          <a:prstGeom prst="line">
            <a:avLst/>
          </a:prstGeom>
          <a:noFill/>
          <a:ln w="12700">
            <a:solidFill>
              <a:srgbClr val="57101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389120"/>
            <a:ext cx="8534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Committee Inquiries &amp; Live System Demonstration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Moshood Abiola National Stadium, Abuja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 Stadium TMS - Project Defense Presentation</dc:title>
  <dc:subject>Stadium Ticketing &amp; Access Management System with PostgreSQL Database</dc:subject>
  <dc:creator>MAN Stadium TMS Engineering Team</dc:creator>
  <cp:lastModifiedBy>MAN Stadium TMS Engineering Team</cp:lastModifiedBy>
  <cp:revision>1</cp:revision>
  <dcterms:created xsi:type="dcterms:W3CDTF">2026-10-08T09:27:58Z</dcterms:created>
  <dcterms:modified xsi:type="dcterms:W3CDTF">2026-10-08T09:27:58Z</dcterms:modified>
</cp:coreProperties>
</file>